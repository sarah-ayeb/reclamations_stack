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376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Classification et Routage Automatique</a:t>
            </a:r>
            <a:br/>
            <a:r>
              <a:t>de Réclamations Clients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4472C4"/>
                </a:solidFill>
              </a:defRPr>
            </a:pPr>
            <a:r>
              <a:t>Soutenance de Stage Data Science / Data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376D"/>
          </a:solidFill>
          <a:ln>
            <a:solidFill>
              <a:srgbClr val="193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91440"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Contexte et Objectifs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🎯 Objectif : Automatiser la classification de réclamations clients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📊 Finalité : Préparer le routage vers les départements appropriés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🌐 Défi multilingue : Français et Anglais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📈 Approche : Comparaison ML classique vs. Transformers modernes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🔐 Contrainte importante : Prévention du data leakage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376D"/>
          </a:solidFill>
          <a:ln>
            <a:solidFill>
              <a:srgbClr val="193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91440"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Dataset et Analyse Exploratoire - Tailles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📌 Source : Réclamations clients en français et anglais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📁 Étapes de traitement 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 • Chargement : 2 961 réclamations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 • Après déduplication (0.92 similarité) : 2 814 réclamations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📊 Répartition des données 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 • Entraînement (train) : 1 969 (70%)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 • Validation (val) : 422 (15%)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 • Test : 423 (15%)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376D"/>
          </a:solidFill>
          <a:ln>
            <a:solidFill>
              <a:srgbClr val="193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91440"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Dataset - Distribution Linguistique et Catégories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🗣️ Répartition linguistique 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 • Français : 2 125 textes (73.2%)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 • Anglais : 836 textes (28.8%)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📂 6 catégories de réclamations 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 • Livraison / Point relais (42.0% en FR, 11.7% en EN)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 • Autre, Facturation, Qualité de service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 • Retard, Sinistre colis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⚠️ Déséquilibre des classes : ratio max/min ≈ 3.3x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376D"/>
          </a:solidFill>
          <a:ln>
            <a:solidFill>
              <a:srgbClr val="193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91440"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Distribution des Catégories</a:t>
            </a:r>
          </a:p>
        </p:txBody>
      </p:sp>
      <p:pic>
        <p:nvPicPr>
          <p:cNvPr id="3" name="Picture 2" descr="distribution_catego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7315200" cy="40246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376D"/>
          </a:solidFill>
          <a:ln>
            <a:solidFill>
              <a:srgbClr val="193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91440"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Répartition : Catégorie × Langue</a:t>
            </a:r>
          </a:p>
        </p:txBody>
      </p:sp>
      <p:pic>
        <p:nvPicPr>
          <p:cNvPr id="3" name="Picture 2" descr="categorie_x_lang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511801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376D"/>
          </a:solidFill>
          <a:ln>
            <a:solidFill>
              <a:srgbClr val="193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91440"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Étape 1 - Prétraitement des Données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🔄 Pipeline de prétraitement complet 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1️⃣ Vérification qualité (valeurs manquantes, doublons)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2️⃣ Détection de langue (langdetect)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3️⃣ Normalisation Unicode et espaces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4️⃣ Masquage des informations sensibles (tracking, montants)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5️⃣ Détection des quasi-doublons (TF-IDF + cosinus ≥ 0.92)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6️⃣ Split stratifié (catégorie × langue)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376D"/>
          </a:solidFill>
          <a:ln>
            <a:solidFill>
              <a:srgbClr val="193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91440"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Prévention du Data Leakage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⚠️ Enjeu critique : Prévention du data leakage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Variables de fuite identifiées 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 • Numéros de tracking : 98.4% des textes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 • Montants financiers : jusqu'à 89.8% (Sinistre colis)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 • Ces variables peuvent directement révéler la catégorie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✅ Actions correctives 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 • Masquage systématique : __TRACKING__, __CENSURE__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 • Exclusion des colonnes sensibles du modèle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 • Déduplication avant split train/val/test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376D"/>
          </a:solidFill>
          <a:ln>
            <a:solidFill>
              <a:srgbClr val="193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91440"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Modèle 1 - TF-IDF + Logistic Regression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📌 Approche classique ML - Baseline robuste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Pipeline 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 Texte → TF-IDF → Logistic Regression → Catégorie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Configuration TF-IDF 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 • N-grammes : 1-2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 • Vocabulaire : 30 000 termes max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 • 25 892 termes réels extraits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Optimisation 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 • GridSearchCV : C ∈ {0.01, 0.1, 1.0, 3.0, 10.0}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 • Pénalités : L1, L2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 • ✅ Meilleurs paramètres trouvés : C=10, penalty=L1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Performance validation : F1-macro ≈ 0.7872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376D"/>
          </a:solidFill>
          <a:ln>
            <a:solidFill>
              <a:srgbClr val="193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91440"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Modèle 2 - DistilBERT Multilingue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🤖 Approche moderne - Transformers multilingues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Modèle : distilbert-base-multilingual-cased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 • Prédéfini sur 101 langues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 • Économe (distillé vs BERT complet)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Tokenisation : Hugging Face Transformers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 • Max length : 256 tokens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 • Padding dynamique (efficacité mémoire)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Fine-tuning configuré 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 • Batch size : 16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 • Epochs : 8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 • Learning rates discriminants (base &lt; top &lt; head)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 • Loss pondérée par classe + Label smoothing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 • Early stopping (patience=2)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376D"/>
          </a:solidFill>
          <a:ln>
            <a:solidFill>
              <a:srgbClr val="193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91440"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Méthodologie d'Évaluation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📊 Stratégie d'évaluation robuste et complète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Métriques principales 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 • F1-macro (pondération équitable par classe)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 • F1-weighted (pondération par fréquence)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 • Balanced Accuracy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Niveaux d'analyse 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 • Global (tous les textes)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 • Par langue (FR vs EN)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 • Par catégorie (6 classes)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Techniques statistiques 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 • Validation croisée 5-fold → stabilité du modèle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 • Bootstrap CI 95% → incertitude estimée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 • Test de McNemar → différence significative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 • Matrice de confusion → analyse des erreurs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376D"/>
          </a:solidFill>
          <a:ln>
            <a:solidFill>
              <a:srgbClr val="193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91440"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Comparaison des Modèles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400" b="1"/>
            </a:pPr>
            <a:r>
              <a:t>Critère              | TF-IDF + LR          | DistilBERT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 b="0"/>
            </a:pPr>
            <a:r>
              <a:t>Approche             | ML Classique         | Transformer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 b="0"/>
            </a:pPr>
            <a:r>
              <a:t>Vocab                | 25 892 termes        | Subword BPE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 b="0"/>
            </a:pPr>
            <a:r>
              <a:t>F1-macro (val)       | 0.7872               | À évaluer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 b="0"/>
            </a:pPr>
            <a:r>
              <a:t>Interprétabilité     | ⭐⭐⭐                  | ⭐⭐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 b="0"/>
            </a:pPr>
            <a:r>
              <a:t>Vitesse              | ⭐⭐⭐                  | ⭐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 b="0"/>
            </a:pPr>
            <a:r>
              <a:t>Multilingue          | ⭐⭐                   | ⭐⭐⭐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 b="0"/>
            </a:pPr>
            <a:r>
              <a:t>Contextuel           | Non                  | Oui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376D"/>
          </a:solidFill>
          <a:ln>
            <a:solidFill>
              <a:srgbClr val="193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91440"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Extraction d'Entités Nommées (NER)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🏷️ Extraction d'Entités Nommées (NER)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Rôle dans le projet 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 • Identifier les informations structurées dans les textes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 • Enrichir le contexte pour la classification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 • Auditer la qualité des annotations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Entités ciblées 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 1️⃣ Numéro de tracking (TRK-XXXX, TN123456...)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 2️⃣ Montant financier (€, DT...)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 3️⃣ Date (JJ/MM/AAAA...)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Exemple : 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 📌 "Colis TRK-5645 retardé depuis 25/09 pour 120 DT"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 → Extrait : TRK-5645 (TRACKING), 25/09 (DATE), 120 DT (AMOUNT)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376D"/>
          </a:solidFill>
          <a:ln>
            <a:solidFill>
              <a:srgbClr val="193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91440"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Données et Modèles NER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📦 Données annotées au format spaCy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Ensembles d'entraînement NER 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 • train.spacy - Données d'entraînement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 • dev.spacy - Données de validation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 • test.spacy - Données de test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Modèles NER sauvegardés 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 • model-best - Meilleur checkpoint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 • model-last - Dernier checkpoint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Rapports d'audit 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 • audit_ner_a_completer.csv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 • ner_sous_annotation_date.csv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 • ner_sous_annotation_montant.csv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 • ner_sous_annotation_numero_tracking.csv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⚠️ Audit : Identification des annotations incomplètes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376D"/>
          </a:solidFill>
          <a:ln>
            <a:solidFill>
              <a:srgbClr val="193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91440"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Classification et Routage Automatique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🎯 De la classification au routage automatique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Flux de traitement 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 📝 Réclamation reçue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      ↓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 🔍 Extraction d'entités (NER)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      ↓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 🤖 Classification (TF-IDF ou DistilBERT)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      ↓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 📂 Détermine la catégorie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      ↓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 🚀 Routage vers département approprié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      ↓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 ✅ Traitement optimisé et rapide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💡 Objectif fonctionnel : Automatiser le tri initial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376D"/>
          </a:solidFill>
          <a:ln>
            <a:solidFill>
              <a:srgbClr val="193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91440"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Artefacts Produits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📦 Artefacts du projet sauvegardés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Modèles entraînés 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 • baseline_tfidf_logreg_pipeline.joblib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 • distilbert_cv_fold{1-5}/ (validation croisée)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 • ner/model-best/ et model-last/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Données traitées 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 • train.csv, val.csv, test.csv (splits stratifiés)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 • reclamations_dedup.csv (après déduplication)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 • données NER au format spaCy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Rapports et visualisations 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 • distribution_categories.png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 • categorie_x_langue.png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 • audit_ner*.csv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 • comparaison_finale_modeles.csv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376D"/>
          </a:solidFill>
          <a:ln>
            <a:solidFill>
              <a:srgbClr val="193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91440"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Limitations et Considérations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⚠️ Limitations à considérer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Données 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 • Source : Scraping → textes non structurés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 • Entités partiellement synthétiques (générées avec Claude)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 • Déséquilibre des classes : ratio 3.3x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 • Classification mono-label (une seule catégorie par texte)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Méthodologie 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 • Dataset de taille modérée (~2800 exemples)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 • Catégories parfois trop larges ou floues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 • Différences de performance FR vs EN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Conclusions 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 ✅ Résultats : estimation sur dataset imparfait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 ✅ À valider en production avec données réelles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376D"/>
          </a:solidFill>
          <a:ln>
            <a:solidFill>
              <a:srgbClr val="193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91440"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Perspectives Futures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🚀 Perspectives d'amélioration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Court terme 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 • Déployer le meilleur modèle en environnement de test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 • Valider les performances avec données réelles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 • Optimiser l'API d'inférence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Moyen terme 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 • Classification multi-label (plusieurs catégories)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 • Explainabilité du modèle (LIME, SHAP)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 • Intégration du pipeline NER + classification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 • Monitoring des performances en production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Long terme 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 • Apprentissage actif (re-annotation continue)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 • Adaptation cross-domaine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 • Système de routage intelligent avec SLA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376D"/>
          </a:solidFill>
          <a:ln>
            <a:solidFill>
              <a:srgbClr val="193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91440"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✅ Résumé des réalisations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Pipeline complet ML d'expérimentation 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 • Prétraitement robuste avec gestion du data leakage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 • Deux modèles contrastés (ML classique vs Transformers)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 • Évaluation rigoureuse multi-critères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 • Extraction d'entités pour enrichissement contextuel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Infrastructure d'entraînement 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 • Validation croisée &amp; hyperparameter tuning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 • Modèles sauvegardés et reproductibles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 • Audit de qualité des données et annotations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✨ Prêt pour déploiement et validation en production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376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Merci de votre attention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4472C4"/>
                </a:solidFill>
              </a:defRPr>
            </a:pPr>
            <a:r>
              <a:t>Questions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